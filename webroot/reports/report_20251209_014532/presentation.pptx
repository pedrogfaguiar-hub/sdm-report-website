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6" y="5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Requested Items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  <c:pt idx="10">
                  <c:v>Nov-26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Requests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  <c:pt idx="10">
                  <c:v>Nov-26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84-479C-AB9F-3D4742A64B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  <c:pt idx="10">
                  <c:v>Nov-26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Daniel</c:v>
                </c:pt>
                <c:pt idx="1">
                  <c:v>Rui</c:v>
                </c:pt>
                <c:pt idx="2">
                  <c:v>Pedro</c:v>
                </c:pt>
                <c:pt idx="3">
                  <c:v>Antonio</c:v>
                </c:pt>
                <c:pt idx="4">
                  <c:v>Ronaldo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P1-Critical</c:v>
                </c:pt>
                <c:pt idx="1">
                  <c:v>P2-High</c:v>
                </c:pt>
                <c:pt idx="2">
                  <c:v>P3-Medium</c:v>
                </c:pt>
                <c:pt idx="3">
                  <c:v>P4-Low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11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15</c:v>
                </c:pt>
                <c:pt idx="8">
                  <c:v>18</c:v>
                </c:pt>
                <c:pt idx="9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144.5</c:v>
                </c:pt>
                <c:pt idx="1">
                  <c:v>130.5</c:v>
                </c:pt>
                <c:pt idx="2">
                  <c:v>159</c:v>
                </c:pt>
                <c:pt idx="3">
                  <c:v>146.5</c:v>
                </c:pt>
                <c:pt idx="4">
                  <c:v>167</c:v>
                </c:pt>
                <c:pt idx="5">
                  <c:v>163</c:v>
                </c:pt>
                <c:pt idx="6">
                  <c:v>157.5</c:v>
                </c:pt>
                <c:pt idx="7">
                  <c:v>145</c:v>
                </c:pt>
                <c:pt idx="8">
                  <c:v>139</c:v>
                </c:pt>
                <c:pt idx="9">
                  <c:v>177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  <c:pt idx="6">
                  <c:v>Jul-26</c:v>
                </c:pt>
                <c:pt idx="7">
                  <c:v>Aug-26</c:v>
                </c:pt>
                <c:pt idx="8">
                  <c:v>Sep-26</c:v>
                </c:pt>
                <c:pt idx="9">
                  <c:v>Oct-26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C-4116-85A1-AB0F82BC9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EC-4116-85A1-AB0F82BC92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November 2026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b="0" sz="800">
                <a:solidFill>
                  <a:srgbClr val="FFA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INC101552-USA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Critical server down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INC102781-Canada</a:t>
            </a:r>
            <a:r>
              <a:rPr b="0" sz="800">
                <a:solidFill>
                  <a:srgbClr val="000000"/>
                </a:solidFill>
                <a:latin typeface="Barlow"/>
              </a:rPr>
              <a:t>: Database connection failure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INC201774-Germany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Incorrect time settings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INC202113-Germany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Application loading slowly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INC203554-Japan</a:t>
            </a:r>
            <a:r>
              <a:rPr b="0" sz="800">
                <a:solidFill>
                  <a:srgbClr val="000000"/>
                </a:solidFill>
                <a:latin typeface="Barlow"/>
              </a:rPr>
              <a:t>: WiFi access request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INC204908-Sweden</a:t>
            </a:r>
            <a:r>
              <a:rPr b="0" sz="800">
                <a:solidFill>
                  <a:srgbClr val="000000"/>
                </a:solidFill>
                <a:latin typeface="Barlow"/>
              </a:rPr>
              <a:t>: Meeting room display flickering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INC205212-USA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Minor keyboard malfunction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INC206445-France</a:t>
            </a:r>
            <a:r>
              <a:rPr b="0" sz="800">
                <a:solidFill>
                  <a:srgbClr val="000000"/>
                </a:solidFill>
                <a:latin typeface="Barlow"/>
              </a:rPr>
              <a:t>: Internal chat app delay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INC207991-Korea</a:t>
            </a:r>
            <a:r>
              <a:rPr b="0" sz="800">
                <a:solidFill>
                  <a:srgbClr val="000000"/>
                </a:solidFill>
                <a:latin typeface="Barlow"/>
              </a:rPr>
              <a:t>: Login attempt locked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1F47"/>
                </a:solidFill>
                <a:effectLst/>
                <a:uLnTx/>
                <a:uFillTx/>
                <a:latin typeface="Barlow SemiBold" panose="00000700000000000000" pitchFamily="2" charset="0"/>
                <a:cs typeface="Arial"/>
                <a:sym typeface="Arial"/>
              </a:rPr>
              <a:t>01 | Network Health Overview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3_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19" name="Picture 18" descr="img3_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4078224"/>
            <a:ext cx="237744" cy="237744"/>
          </a:xfrm>
          <a:prstGeom prst="rect">
            <a:avLst/>
          </a:prstGeom>
        </p:spPr>
      </p:pic>
      <p:pic>
        <p:nvPicPr>
          <p:cNvPr id="20" name="Picture 19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21" name="Picture 20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22" name="Picture 21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23" name="Picture 22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24" name="Picture 23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25" name="Picture 2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26" name="Picture 2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27" name="Picture 2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28" name="Picture 2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9" name="Picture 2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30" name="Picture 2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33" name="Picture 3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34" name="Picture 3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35" name="Picture 3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36" name="Picture 3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7" name="Picture 3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38" name="Picture 3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39" name="Picture 3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40" name="Picture 3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41" name="Picture 4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42" name="Picture 4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43" name="Picture 4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44" name="Picture 4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45" name="Picture 4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46" name="Picture 4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7" name="Picture 4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48" name="Picture 4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49" name="Picture 4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54" name="Picture 5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  <p:pic>
        <p:nvPicPr>
          <p:cNvPr id="55" name="Picture 5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56" name="Picture 5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57" name="Picture 5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13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November, a total of 2 Change Requests, 4 Incidents and 5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November, a total of 27 incidents were open,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857456283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365276600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757388291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340 sec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181784797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Barlow" panose="00000500000000000000" pitchFamily="2" charset="0"/>
              </a:rPr>
              <a:t>The average incident resolution time was 2 hours and 1 minute</a:t>
            </a:r>
          </a:p>
          <a:p>
            <a:endParaRPr lang="en-US"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8259</TotalTime>
  <Words>320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Barlow</vt:lpstr>
      <vt:lpstr>Arial</vt:lpstr>
      <vt:lpstr>Noto Sans Symbols</vt:lpstr>
      <vt:lpstr>Calibri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85</cp:revision>
  <dcterms:created xsi:type="dcterms:W3CDTF">2024-11-04T15:04:28Z</dcterms:created>
  <dcterms:modified xsi:type="dcterms:W3CDTF">2025-12-05T13:26:37Z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